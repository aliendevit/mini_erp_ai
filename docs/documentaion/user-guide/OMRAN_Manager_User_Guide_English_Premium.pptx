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31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342D">
              <a:alpha val="90000"/>
            </a:srgbClr>
          </a:solidFill>
          <a:ln w="12700">
            <a:solidFill>
              <a:srgbClr val="3A34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5048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7132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C2AE"/>
                </a:solidFill>
              </a:rPr>
              <a:t>MANAGER USER GUIDE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OMRAN ERP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04672" y="1673352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8D0C0"/>
                </a:solidFill>
              </a:rPr>
              <a:t>A premium, practical guide for managing construction projects from AI intake to execution, monitoring, and invoicing.</a:t>
            </a:r>
            <a:endParaRPr lang="en-US" sz="1600" dirty="0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32413"/>
            <a:ext cx="4754880" cy="16900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4672" y="274320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2F214F"/>
          </a:solidFill>
          <a:ln w="12700">
            <a:solidFill>
              <a:srgbClr val="2F21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825496"/>
            <a:ext cx="2340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AI-assisted construction management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20440" y="274320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B9955A"/>
          </a:solidFill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30168" y="2825496"/>
            <a:ext cx="1563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Manager workflow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22960" y="5989320"/>
            <a:ext cx="10652760" cy="0"/>
          </a:xfrm>
          <a:prstGeom prst="line">
            <a:avLst/>
          </a:prstGeom>
          <a:noFill/>
          <a:ln w="12700">
            <a:solidFill>
              <a:srgbClr val="6F675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6144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0A4"/>
                </a:solidFill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at a glance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OMRAN helps the manager control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F2E2A"/>
                </a:solidFill>
              </a:rPr>
              <a:t>OMRAN is a mini ERP for construction and renovation projects. It connects project intake, proposal generation, workshop assignment, execution tracking, AI monitoring, and invoices into one controlled workflow.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772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Smart project intake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3756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3375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Structured proposal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978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9788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Execution control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5820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2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45820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Monitoring &amp; invoices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737360" y="4709160"/>
            <a:ext cx="8412480" cy="594360"/>
          </a:xfrm>
          <a:prstGeom prst="chevron">
            <a:avLst/>
          </a:prstGeom>
          <a:solidFill>
            <a:srgbClr val="E8DFC9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87452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Intake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3264408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Proposal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654296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Order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6044184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Tracking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434072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AI Monitoring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8823960" y="4919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214F"/>
                </a:solidFill>
              </a:rPr>
              <a:t>Invoices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manager workflow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 path from conversation to official project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31520" y="16002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96112" y="1737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0876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Start AI Intake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19842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Create a new intake record and describe the project naturally.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80560" y="16002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45152" y="1737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578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Collect requirements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57800" y="19842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Capture customer, site, dates, scope, payments, and missing details.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0" y="16002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394192" y="17373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068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Generate proposal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06840" y="19842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Convert the conversation into structured, editable proposal fields.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" y="36576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" y="37947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50876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Assign workshops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50876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Select available workshops per site and confirm execution ownership.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480560" y="36576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645152" y="37947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05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25780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Track execution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25780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Document progress, photos, tasks, issues, materials, and schedules.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229600" y="3657600"/>
            <a:ext cx="594360" cy="594360"/>
          </a:xfrm>
          <a:prstGeom prst="arc">
            <a:avLst/>
          </a:prstGeom>
          <a:noFill/>
          <a:ln w="254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394192" y="37947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214F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006840" y="3703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Review monitoring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006840" y="4041648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Use AI explanations to understand delays, risks, and next actions.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1143000" y="4069080"/>
            <a:ext cx="9509760" cy="0"/>
          </a:xfrm>
          <a:prstGeom prst="line">
            <a:avLst/>
          </a:prstGeom>
          <a:noFill/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342D">
              <a:alpha val="90000"/>
            </a:srgbClr>
          </a:solidFill>
          <a:ln w="12700">
            <a:solidFill>
              <a:srgbClr val="3A34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5048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Intake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natural conversation instead of a rigid form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" y="1691640"/>
            <a:ext cx="4389120" cy="1920240"/>
          </a:xfrm>
          <a:prstGeom prst="roundRect">
            <a:avLst>
              <a:gd name="adj" fmla="val 4762"/>
            </a:avLst>
          </a:prstGeom>
          <a:solidFill>
            <a:srgbClr val="23221F"/>
          </a:solidFill>
          <a:ln w="12700">
            <a:solidFill>
              <a:srgbClr val="524B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1691640"/>
            <a:ext cx="73152" cy="1920240"/>
          </a:xfrm>
          <a:prstGeom prst="rect">
            <a:avLst/>
          </a:prstGeom>
          <a:solidFill>
            <a:srgbClr val="B9955A"/>
          </a:solidFill>
          <a:ln w="12700">
            <a:solidFill>
              <a:srgbClr val="B995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6696" y="18745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 a new intake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6696" y="2194560"/>
            <a:ext cx="4069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D0C0"/>
                </a:solidFill>
              </a:rPr>
              <a:t>Open AI Intake and select New. Describe the project using normal language — customer, location, responsible person, dates, and required work areas.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3886200"/>
            <a:ext cx="4389120" cy="1234440"/>
          </a:xfrm>
          <a:prstGeom prst="roundRect">
            <a:avLst>
              <a:gd name="adj" fmla="val 7407"/>
            </a:avLst>
          </a:prstGeom>
          <a:solidFill>
            <a:srgbClr val="23221F"/>
          </a:solidFill>
          <a:ln w="12700">
            <a:solidFill>
              <a:srgbClr val="524B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7240" y="3886200"/>
            <a:ext cx="73152" cy="1234440"/>
          </a:xfrm>
          <a:prstGeom prst="rect">
            <a:avLst/>
          </a:prstGeom>
          <a:solidFill>
            <a:srgbClr val="4A2E68"/>
          </a:solidFill>
          <a:ln w="12700">
            <a:solidFill>
              <a:srgbClr val="4A2E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96696" y="406908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 voice when available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96696" y="4389120"/>
            <a:ext cx="40690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D0C0"/>
                </a:solidFill>
              </a:rPr>
              <a:t>Voice-to-text can capture spoken notes from the office or site, then send the content into the same AI intake workflow.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89320" y="169164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23221F"/>
          </a:solidFill>
          <a:ln w="12700">
            <a:solidFill>
              <a:srgbClr val="5D5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09360" y="19751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FC2AE"/>
                </a:solidFill>
              </a:rPr>
              <a:t>Example project input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09360" y="2423160"/>
            <a:ext cx="44805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“We have a renovation project for Al-Sham Development in Damascus. The main contact is Ahmad Mansour. The kitchen needs tile replacement and plumbing fixes. The main bathroom needs waterproofing and sanitary work.”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309360" y="3977640"/>
            <a:ext cx="4480560" cy="0"/>
          </a:xfrm>
          <a:prstGeom prst="line">
            <a:avLst/>
          </a:prstGeom>
          <a:noFill/>
          <a:ln w="12700">
            <a:solidFill>
              <a:srgbClr val="5D5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09360" y="4206240"/>
            <a:ext cx="4480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asks only for missing practical details.
</a:t>
            </a:r>
            <a:r>
              <a:rPr lang="en-US" sz="10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stay isolated and editable.
</a:t>
            </a:r>
            <a:r>
              <a:rPr lang="en-US" sz="10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0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remains in control before confirmation.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the scope of work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site details into structured execution requirements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2E2A"/>
                </a:solidFill>
              </a:rPr>
              <a:t>After basic project information is captured, enter work details by location or area. OMRAN extracts the operational structure needed for proposal and execution.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2606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214F"/>
                </a:solidFill>
              </a:rPr>
              <a:t>Work location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450592" y="2724912"/>
            <a:ext cx="594360" cy="0"/>
          </a:xfrm>
          <a:prstGeom prst="line">
            <a:avLst/>
          </a:prstGeom>
          <a:noFill/>
          <a:ln w="1524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15468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Kitchen, bathroom, living room, facade, roof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" y="32095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214F"/>
                </a:solidFill>
              </a:rPr>
              <a:t>Work type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450592" y="3328416"/>
            <a:ext cx="594360" cy="0"/>
          </a:xfrm>
          <a:prstGeom prst="line">
            <a:avLst/>
          </a:prstGeom>
          <a:noFill/>
          <a:ln w="1524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154680" y="3209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Tiles, waterproofing, painting, electrical, sanitary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" y="3813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214F"/>
                </a:solidFill>
              </a:rPr>
              <a:t>Required skills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450592" y="3931920"/>
            <a:ext cx="594360" cy="0"/>
          </a:xfrm>
          <a:prstGeom prst="line">
            <a:avLst/>
          </a:prstGeom>
          <a:noFill/>
          <a:ln w="1524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15468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Workshop expertise and execution capabilities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68680" y="4416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214F"/>
                </a:solidFill>
              </a:rPr>
              <a:t>Materials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450592" y="4535424"/>
            <a:ext cx="594360" cy="0"/>
          </a:xfrm>
          <a:prstGeom prst="line">
            <a:avLst/>
          </a:prstGeom>
          <a:noFill/>
          <a:ln w="1524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154680" y="44165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Paint, ceramic, insulation, fixtures, supplies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8680" y="50200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214F"/>
                </a:solidFill>
              </a:rPr>
              <a:t>Missing data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50592" y="5138928"/>
            <a:ext cx="594360" cy="0"/>
          </a:xfrm>
          <a:prstGeom prst="line">
            <a:avLst/>
          </a:prstGeom>
          <a:noFill/>
          <a:ln w="1524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154680" y="5020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Questions that need manager confirmation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543800" y="1600200"/>
            <a:ext cx="3474720" cy="3337560"/>
          </a:xfrm>
          <a:prstGeom prst="roundRect">
            <a:avLst>
              <a:gd name="adj" fmla="val 3288"/>
            </a:avLst>
          </a:prstGeom>
          <a:solidFill>
            <a:srgbClr val="FBFAF6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818120" y="1901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955A"/>
                </a:solidFill>
              </a:rPr>
              <a:t>Manager rule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18120" y="237744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91714"/>
                </a:solidFill>
              </a:rPr>
              <a:t>Write scope in normal language. The system organizes it, but the manager reviews what becomes official.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818120" y="3867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776D"/>
                </a:solidFill>
              </a:rPr>
              <a:t>Good input → better proposal → stronger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generation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organizes information; the manager approves the official version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1645920"/>
            <a:ext cx="73152" cy="1828800"/>
          </a:xfrm>
          <a:prstGeom prst="rect">
            <a:avLst/>
          </a:prstGeom>
          <a:solidFill>
            <a:srgbClr val="B9955A"/>
          </a:solidFill>
          <a:ln w="12700">
            <a:solidFill>
              <a:srgbClr val="B995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6696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Generate Proposal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6696" y="2148840"/>
            <a:ext cx="2880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Once the intake conversation is clear, select Generate Proposal. OMRAN converts the conversation into structured proposal fields.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8056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80560" y="1645920"/>
            <a:ext cx="73152" cy="1828800"/>
          </a:xfrm>
          <a:prstGeom prst="rect">
            <a:avLst/>
          </a:prstGeom>
          <a:solidFill>
            <a:srgbClr val="4A2E68"/>
          </a:solidFill>
          <a:ln w="12700">
            <a:solidFill>
              <a:srgbClr val="4A2E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00016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Review &amp; edit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00016" y="2148840"/>
            <a:ext cx="2880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Check customer information, project summary, work locations, required skills, workshops, payments, and expected amounts.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83880" y="164592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183880" y="1645920"/>
            <a:ext cx="73152" cy="1828800"/>
          </a:xfrm>
          <a:prstGeom prst="rect">
            <a:avLst/>
          </a:prstGeom>
          <a:solidFill>
            <a:srgbClr val="5C7A60"/>
          </a:solidFill>
          <a:ln w="12700">
            <a:solidFill>
              <a:srgbClr val="5C7A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403336" y="18288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Confirm only when ready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03336" y="2148840"/>
            <a:ext cx="28803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AI is used for organization and speed. Official project data should be confirmed only after manager review.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286000" y="4343400"/>
            <a:ext cx="7589520" cy="0"/>
          </a:xfrm>
          <a:prstGeom prst="line">
            <a:avLst/>
          </a:prstGeom>
          <a:noFill/>
          <a:ln w="1524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188720" y="4069080"/>
            <a:ext cx="502920" cy="502920"/>
          </a:xfrm>
          <a:prstGeom prst="ellipse">
            <a:avLst/>
          </a:prstGeom>
          <a:solidFill>
            <a:srgbClr val="2F21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71600" y="422452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" y="4736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714"/>
                </a:solidFill>
              </a:rPr>
              <a:t>Conversation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023360" y="4069080"/>
            <a:ext cx="502920" cy="502920"/>
          </a:xfrm>
          <a:prstGeom prst="ellipse">
            <a:avLst/>
          </a:prstGeom>
          <a:solidFill>
            <a:srgbClr val="2F21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206240" y="422452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0" y="4736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714"/>
                </a:solidFill>
              </a:rPr>
              <a:t>Structured data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858000" y="4069080"/>
            <a:ext cx="502920" cy="502920"/>
          </a:xfrm>
          <a:prstGeom prst="ellipse">
            <a:avLst/>
          </a:prstGeom>
          <a:solidFill>
            <a:srgbClr val="2F21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040880" y="422452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92240" y="4736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714"/>
                </a:solidFill>
              </a:rPr>
              <a:t>Editable proposal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692640" y="4069080"/>
            <a:ext cx="502920" cy="502920"/>
          </a:xfrm>
          <a:prstGeom prst="ellipse">
            <a:avLst/>
          </a:prstGeom>
          <a:solidFill>
            <a:srgbClr val="5C7A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875520" y="4224528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9326880" y="47365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1714"/>
                </a:solidFill>
              </a:rPr>
              <a:t>Approved project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workshops are the core execution 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" y="1645920"/>
            <a:ext cx="37490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9728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714"/>
                </a:solidFill>
              </a:rPr>
              <a:t>Workshop selection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395728"/>
            <a:ext cx="31089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each work location.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responsible workshop.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the workshop covers the required skills.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none is suitable, mark the location as Workshop needed.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1645920"/>
            <a:ext cx="5394960" cy="3886200"/>
          </a:xfrm>
          <a:prstGeom prst="rect">
            <a:avLst/>
          </a:prstGeom>
          <a:solidFill>
            <a:srgbClr val="FDFBF6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3212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14F"/>
                </a:solidFill>
              </a:rPr>
              <a:t>Workshop management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32120" y="2395728"/>
            <a:ext cx="4434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or edit workshop profile.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specialties such as tiles, waterproofing, painting, electrical, or sanitary work.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availability as Available or Not Available.
</a:t>
            </a:r>
            <a:r>
              <a:rPr lang="en-US" sz="120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Unavailable workshops are not suggested for execution.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3291840"/>
            <a:ext cx="292608" cy="0"/>
          </a:xfrm>
          <a:prstGeom prst="line">
            <a:avLst/>
          </a:prstGeom>
          <a:noFill/>
          <a:ln w="2032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342D">
              <a:alpha val="90000"/>
            </a:srgbClr>
          </a:solidFill>
          <a:ln w="12700">
            <a:solidFill>
              <a:srgbClr val="3A34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5048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Convert proposal to order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where a draft becomes an official project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EE9DE"/>
                </a:solidFill>
              </a:rPr>
              <a:t>After the manager reviews the proposal and workshop assignments, the system can convert the proposal into an official order. From that point, the project becomes trackable.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3063240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23221F"/>
          </a:solidFill>
          <a:ln w="12700">
            <a:solidFill>
              <a:srgbClr val="524B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8680" y="3063240"/>
            <a:ext cx="73152" cy="1325880"/>
          </a:xfrm>
          <a:prstGeom prst="rect">
            <a:avLst/>
          </a:prstGeom>
          <a:solidFill>
            <a:srgbClr val="B9955A"/>
          </a:solidFill>
          <a:ln w="12700">
            <a:solidFill>
              <a:srgbClr val="B995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88136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Confirm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813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D0C0"/>
                </a:solidFill>
              </a:rPr>
              <a:t>Manager accepts the reviewed proposal.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26280" y="3063240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23221F"/>
          </a:solidFill>
          <a:ln w="12700">
            <a:solidFill>
              <a:srgbClr val="524B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26280" y="3063240"/>
            <a:ext cx="73152" cy="1325880"/>
          </a:xfrm>
          <a:prstGeom prst="rect">
            <a:avLst/>
          </a:prstGeom>
          <a:solidFill>
            <a:srgbClr val="4A2E68"/>
          </a:solidFill>
          <a:ln w="12700">
            <a:solidFill>
              <a:srgbClr val="4A2E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45736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Order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4573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D0C0"/>
                </a:solidFill>
              </a:rPr>
              <a:t>System creates the official project record.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83880" y="3063240"/>
            <a:ext cx="3063240" cy="1325880"/>
          </a:xfrm>
          <a:prstGeom prst="roundRect">
            <a:avLst>
              <a:gd name="adj" fmla="val 6897"/>
            </a:avLst>
          </a:prstGeom>
          <a:solidFill>
            <a:srgbClr val="23221F"/>
          </a:solidFill>
          <a:ln w="12700">
            <a:solidFill>
              <a:srgbClr val="524B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83880" y="3063240"/>
            <a:ext cx="73152" cy="1325880"/>
          </a:xfrm>
          <a:prstGeom prst="rect">
            <a:avLst/>
          </a:prstGeom>
          <a:solidFill>
            <a:srgbClr val="5C7A60"/>
          </a:solidFill>
          <a:ln w="12700">
            <a:solidFill>
              <a:srgbClr val="5C7A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03336" y="3246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Control Pages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03336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D0C0"/>
                </a:solidFill>
              </a:rPr>
              <a:t>Order Detail, Project Tracking, AI Monitoring, and Invoices become available.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926080" y="49560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FC2AE"/>
                </a:solidFill>
              </a:rPr>
              <a:t>Control principle: drafts are flexible; orders are operational records.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Tracking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daily execution control center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2E2A"/>
                </a:solidFill>
              </a:rPr>
              <a:t>Open an order, then select Open Tracking. This page documents execution manually and provides the data AI Monitoring needs to give reliable explanations.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Progress overview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03580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3154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Current completion and status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361188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Baseline schedule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11880" y="303580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611880" y="3154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Official plan for each site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640080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Timeline updates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0" y="303580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0" y="3154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Execution notes over time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9189720" y="27432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Photos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89720" y="303580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89720" y="3154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Visual evidence from site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Tasks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408736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" y="4206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Weighted work items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361188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Issues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611880" y="408736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611880" y="4206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Blockers and resolution status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640080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Materials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00800" y="408736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00800" y="4206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Needed, ordered, delivered, used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9189720" y="3794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Workshop schedule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189720" y="4087368"/>
            <a:ext cx="2011680" cy="0"/>
          </a:xfrm>
          <a:prstGeom prst="line">
            <a:avLst/>
          </a:prstGeom>
          <a:noFill/>
          <a:ln w="1270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189720" y="4206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7F776D"/>
                </a:solidFill>
              </a:rPr>
              <a:t>Execution coordination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Daily execution data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issues, materials, and updates make the project measurable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77240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77240" y="1691640"/>
            <a:ext cx="73152" cy="2148840"/>
          </a:xfrm>
          <a:prstGeom prst="rect">
            <a:avLst/>
          </a:prstGeom>
          <a:solidFill>
            <a:srgbClr val="4A2E68"/>
          </a:solidFill>
          <a:ln w="12700">
            <a:solidFill>
              <a:srgbClr val="4A2E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96696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Tasks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6696" y="2194560"/>
            <a:ext cx="3063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Create tasks per location. Set status, owner, due date, weight, and progress percentage. Weight reflects the importance of the task inside location progress.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34840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434840" y="1691640"/>
            <a:ext cx="73152" cy="2148840"/>
          </a:xfrm>
          <a:prstGeom prst="rect">
            <a:avLst/>
          </a:prstGeom>
          <a:solidFill>
            <a:srgbClr val="A65A4A"/>
          </a:solidFill>
          <a:ln w="12700">
            <a:solidFill>
              <a:srgbClr val="A65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54296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Issues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54296" y="2194560"/>
            <a:ext cx="3063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Record blockers with severity, owner, location, status, and resolution notes. Open issues appear in warnings and affect monitoring.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92440" y="1691640"/>
            <a:ext cx="33832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092440" y="1691640"/>
            <a:ext cx="73152" cy="2148840"/>
          </a:xfrm>
          <a:prstGeom prst="rect">
            <a:avLst/>
          </a:prstGeom>
          <a:solidFill>
            <a:srgbClr val="B9955A"/>
          </a:solidFill>
          <a:ln w="12700">
            <a:solidFill>
              <a:srgbClr val="B995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11896" y="18745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Materials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11896" y="2194560"/>
            <a:ext cx="3063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Track ceramic, paint, waterproofing, fixtures, electrical or sanitary supplies by quantity, location, status, and notes.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14400" y="4663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214F"/>
                </a:solidFill>
              </a:rPr>
              <a:t>Example update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331720" y="4663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91714"/>
                </a:solidFill>
              </a:rPr>
              <a:t>“The old bathroom tiles have been removed and the floor is ready for the first waterproofing layer.”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schedule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official reference for delay analysis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F2E2A"/>
                </a:solidFill>
              </a:rPr>
              <a:t>Baseline is the confirmed plan for work locations inside a project. AI Monitoring relies on confirmed baseline dates, not just drafts.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14400" y="283464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728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14F"/>
                </a:solidFill>
              </a:rPr>
              <a:t>Draft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76D"/>
                </a:solidFill>
              </a:rPr>
              <a:t>Ask the system for an initial schedule suggestion.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26280" y="282067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14F"/>
                </a:solidFill>
              </a:rPr>
              <a:t>Review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2628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76D"/>
                </a:solidFill>
              </a:rPr>
              <a:t>Adjust start and finish dates for each location.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0" y="2834640"/>
            <a:ext cx="2743200" cy="621792"/>
          </a:xfrm>
          <a:prstGeom prst="rect">
            <a:avLst/>
          </a:prstGeom>
          <a:solidFill>
            <a:srgbClr val="2F214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Confirm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92440" y="3703320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7F776D"/>
                </a:solidFill>
              </a:rPr>
              <a:t>Approve the baseline so progress and delay become measurable.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0" y="3154680"/>
            <a:ext cx="868680" cy="0"/>
          </a:xfrm>
          <a:prstGeom prst="line">
            <a:avLst/>
          </a:prstGeom>
          <a:noFill/>
          <a:ln w="2286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9184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955A"/>
                </a:solidFill>
              </a:rPr>
              <a:t>No confirmed baseline → weaker delay analysis.</a:t>
            </a:r>
            <a:endParaRPr lang="en-US" sz="14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C6D1F745-D0D9-E37E-ACB1-E8F677E88E9D}"/>
              </a:ext>
            </a:extLst>
          </p:cNvPr>
          <p:cNvSpPr/>
          <p:nvPr/>
        </p:nvSpPr>
        <p:spPr>
          <a:xfrm>
            <a:off x="7269480" y="3134360"/>
            <a:ext cx="777240" cy="0"/>
          </a:xfrm>
          <a:prstGeom prst="line">
            <a:avLst/>
          </a:prstGeom>
          <a:noFill/>
          <a:ln w="2286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342D">
              <a:alpha val="90000"/>
            </a:srgbClr>
          </a:solidFill>
          <a:ln w="12700">
            <a:solidFill>
              <a:srgbClr val="3A34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5048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5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Monitoring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Explanations based on structured tracking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FC2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EE9DE"/>
                </a:solidFill>
              </a:rPr>
              <a:t>AI Monitoring explains the project health using backend-calculated values and tracking data. It does not invent official numbers.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2743200"/>
            <a:ext cx="38404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vs actual progress
</a:t>
            </a: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gap and delay status
</a:t>
            </a: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finish date
</a:t>
            </a: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issues and blockers
</a:t>
            </a: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information
</a:t>
            </a:r>
            <a:r>
              <a:rPr lang="en-US" sz="12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50" dirty="0">
                <a:solidFill>
                  <a:srgbClr val="D7D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actions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760720" y="1783080"/>
            <a:ext cx="5029200" cy="3474720"/>
          </a:xfrm>
          <a:prstGeom prst="roundRect">
            <a:avLst>
              <a:gd name="adj" fmla="val 3158"/>
            </a:avLst>
          </a:prstGeom>
          <a:solidFill>
            <a:srgbClr val="23221F"/>
          </a:solidFill>
          <a:ln w="12700">
            <a:solidFill>
              <a:srgbClr val="5D56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FC2AE"/>
                </a:solidFill>
              </a:rPr>
              <a:t>Monitoring logic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2560320"/>
            <a:ext cx="4206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Tracking data + confirmed baseline + open issues + material status → clear project-health explanation for the manager.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080760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955A"/>
                </a:solidFill>
              </a:rPr>
              <a:t>Better input data creates stronger AI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Invoices and payments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follow-up remains reviewable and controlled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" y="160020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F2E2A"/>
                </a:solidFill>
              </a:rPr>
              <a:t>The Invoices page lets the manager create, review, edit, export, and follow payment status. Invoices are connected to project, locations, and invoice items rather than internal employee hours.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68680" y="274320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8680" y="2743200"/>
            <a:ext cx="73152" cy="1417320"/>
          </a:xfrm>
          <a:prstGeom prst="rect">
            <a:avLst/>
          </a:prstGeom>
          <a:solidFill>
            <a:srgbClr val="B9955A"/>
          </a:solidFill>
          <a:ln w="12700">
            <a:solidFill>
              <a:srgbClr val="B995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88136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Create invoice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8136" y="3246120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Build invoice items from the project scope and locations.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274320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0" y="2743200"/>
            <a:ext cx="73152" cy="1417320"/>
          </a:xfrm>
          <a:prstGeom prst="rect">
            <a:avLst/>
          </a:prstGeom>
          <a:solidFill>
            <a:srgbClr val="4A2E68"/>
          </a:solidFill>
          <a:ln w="12700">
            <a:solidFill>
              <a:srgbClr val="4A2E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91456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Review status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791456" y="3246120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Edit invoice status, payment progress, and details before export.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75320" y="2743200"/>
            <a:ext cx="2971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275320" y="2743200"/>
            <a:ext cx="73152" cy="1417320"/>
          </a:xfrm>
          <a:prstGeom prst="rect">
            <a:avLst/>
          </a:prstGeom>
          <a:solidFill>
            <a:srgbClr val="5C7A60"/>
          </a:solidFill>
          <a:ln w="12700">
            <a:solidFill>
              <a:srgbClr val="5C7A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94776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1714"/>
                </a:solidFill>
              </a:rPr>
              <a:t>Export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94776" y="3246120"/>
            <a:ext cx="2651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F776D"/>
                </a:solidFill>
              </a:rPr>
              <a:t>Generate PDF or Word outputs for operational documentation.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286000" y="4983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214F"/>
                </a:solidFill>
              </a:rPr>
              <a:t>Invoices are business records. Review amounts, dates, and items before sending.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FC2AE">
              <a:alpha val="90000"/>
            </a:srgbClr>
          </a:solidFill>
          <a:ln w="12700">
            <a:solidFill>
              <a:srgbClr val="CFC2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6053328"/>
            <a:ext cx="11384280" cy="0"/>
          </a:xfrm>
          <a:prstGeom prst="line">
            <a:avLst/>
          </a:prstGeom>
          <a:noFill/>
          <a:ln w="12700">
            <a:solidFill>
              <a:srgbClr val="DCD3C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828800" cy="27432"/>
          </a:xfrm>
          <a:prstGeom prst="rect">
            <a:avLst/>
          </a:prstGeom>
          <a:solidFill>
            <a:srgbClr val="7F776D">
              <a:alpha val="1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78440" y="822960"/>
            <a:ext cx="1097280" cy="27432"/>
          </a:xfrm>
          <a:prstGeom prst="rect">
            <a:avLst/>
          </a:prstGeom>
          <a:solidFill>
            <a:srgbClr val="7F776D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9171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daily routine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9875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77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operating rhythm for the manager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1280160" cy="0"/>
          </a:xfrm>
          <a:prstGeom prst="line">
            <a:avLst/>
          </a:prstGeom>
          <a:noFill/>
          <a:ln w="13970">
            <a:solidFill>
              <a:srgbClr val="B99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OMRA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81" y="6263640"/>
            <a:ext cx="82323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6345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66D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OMRAN ERP • Manager User Guide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236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C8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1691640"/>
            <a:ext cx="54864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Dashboard for the global situation.
</a:t>
            </a: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active Orders.
</a:t>
            </a: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Tracking for the project that needs attention.
</a:t>
            </a: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updates, photos, tasks, issues, and material status.
</a:t>
            </a: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AI Monitoring for risks and next actions.
</a:t>
            </a:r>
            <a:r>
              <a:rPr lang="en-US" sz="1350" b="1" dirty="0">
                <a:solidFill>
                  <a:srgbClr val="B99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350" dirty="0">
                <a:solidFill>
                  <a:srgbClr val="2F2E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workshops, baseline, invoices, or payments as needed.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766560" y="1627632"/>
            <a:ext cx="43434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D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86600" y="196596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955A"/>
                </a:solidFill>
              </a:rPr>
              <a:t>Golden rule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6600" y="2423160"/>
            <a:ext cx="3520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91714"/>
                </a:solidFill>
              </a:rPr>
              <a:t>The system helps the manager organize and decide. It does not replace the manager’s review.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86600" y="3886200"/>
            <a:ext cx="3474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7F776D"/>
                </a:solidFill>
              </a:rPr>
              <a:t>Before approving any proposal, invoice, or execution plan, review prices, dates, scope, workshops, payments, and warnings.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1401</Words>
  <Application>Microsoft Office PowerPoint</Application>
  <PresentationFormat>Widescreen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OMRAN ERP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OMRAN ERP Manager User Guide</dc:title>
  <dc:subject>Manager User Guide</dc:subject>
  <dc:creator>OMRAN</dc:creator>
  <cp:lastModifiedBy>Ali Sultan</cp:lastModifiedBy>
  <cp:revision>2</cp:revision>
  <dcterms:created xsi:type="dcterms:W3CDTF">2026-06-06T23:18:16Z</dcterms:created>
  <dcterms:modified xsi:type="dcterms:W3CDTF">2026-06-06T23:41:59Z</dcterms:modified>
</cp:coreProperties>
</file>