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4"/>
          </a:solidFill>
          <a:ln w="12700">
            <a:solidFill>
              <a:srgbClr val="0B1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955279" y="-548640"/>
            <a:ext cx="4846320" cy="7955279"/>
          </a:xfrm>
          <a:prstGeom prst="roundRect">
            <a:avLst/>
          </a:prstGeom>
          <a:solidFill>
            <a:srgbClr val="7457FF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69680" y="137160"/>
            <a:ext cx="2468880" cy="24688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274320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400" b="1">
                <a:solidFill>
                  <a:srgbClr val="D7B46A"/>
                </a:solidFill>
                <a:latin typeface="Aptos"/>
              </a:rPr>
              <a:t>OMRAN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7315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4A7CFF"/>
                </a:solidFill>
                <a:latin typeface="Aptos"/>
              </a:rPr>
              <a:t>CURRENT PROJECT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7498079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400" b="1">
                <a:solidFill>
                  <a:srgbClr val="F8FAFF"/>
                </a:solidFill>
                <a:latin typeface="Aptos"/>
              </a:rPr>
              <a:t>A More Intelligent, Clear,</a:t>
            </a:r>
            <a:br/>
            <a:r>
              <a:t>and User-Friendly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67328"/>
            <a:ext cx="69037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>
                <a:solidFill>
                  <a:srgbClr val="D9E2F5"/>
                </a:solidFill>
                <a:latin typeface="Aptos"/>
              </a:rPr>
              <a:t>New UI, implemented features, AI value, and frontend performance improvements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4800600"/>
            <a:ext cx="1325880" cy="384048"/>
          </a:xfrm>
          <a:prstGeom prst="roundRect">
            <a:avLst/>
          </a:prstGeom>
          <a:solidFill>
            <a:srgbClr val="302B20"/>
          </a:solidFill>
          <a:ln w="12700">
            <a:solidFill>
              <a:srgbClr val="D7B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873752"/>
            <a:ext cx="123443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D7B46A"/>
                </a:solidFill>
                <a:latin typeface="Aptos"/>
              </a:rPr>
              <a:t>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86400"/>
            <a:ext cx="68580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91A0BF"/>
                </a:solidFill>
                <a:latin typeface="Aptos"/>
              </a:rPr>
              <a:t>From conversational project intake to controlled project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The prototype now connects the main construction-management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214884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10512"/>
            <a:ext cx="181965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19B56B"/>
                </a:solidFill>
                <a:latin typeface="Apto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04288"/>
            <a:ext cx="181965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FEATURES IMPLEMENTED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45920"/>
            <a:ext cx="214884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36392" y="1810512"/>
            <a:ext cx="181965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304288"/>
            <a:ext cx="181965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FEATURE IN CONTINUOUS IMPROVEMENT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85232" y="1645920"/>
            <a:ext cx="214884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9824" y="1810512"/>
            <a:ext cx="181965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4A7CFF"/>
                </a:solidFill>
                <a:latin typeface="Aptos"/>
              </a:rPr>
              <a:t>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2304288"/>
            <a:ext cx="181965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BACKEND TESTS PASSING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98664" y="1645920"/>
            <a:ext cx="214884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63256" y="1810512"/>
            <a:ext cx="181965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7457FF"/>
                </a:solidFill>
                <a:latin typeface="Aptos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3256" y="2304288"/>
            <a:ext cx="181965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FRONTEND BUILD PASSING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12096" y="1645920"/>
            <a:ext cx="1618488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76688" y="1828800"/>
            <a:ext cx="1234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100" b="1">
                <a:solidFill>
                  <a:srgbClr val="D7B46A"/>
                </a:solidFill>
                <a:latin typeface="Aptos"/>
              </a:rPr>
              <a:t>UI 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2267712"/>
            <a:ext cx="13258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50" b="1">
                <a:solidFill>
                  <a:srgbClr val="91A0BF"/>
                </a:solidFill>
                <a:latin typeface="Aptos"/>
              </a:rPr>
              <a:t>Performance evolving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54680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8FAFF"/>
                </a:solidFill>
                <a:latin typeface="Aptos"/>
              </a:rPr>
              <a:t>Connected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3867911"/>
            <a:ext cx="411480" cy="4114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3959352"/>
            <a:ext cx="411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3858768"/>
            <a:ext cx="120700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AI Intake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197096"/>
            <a:ext cx="120700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Capture text or 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44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090672" y="3867911"/>
            <a:ext cx="411480" cy="4114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90672" y="3959352"/>
            <a:ext cx="411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3858768"/>
            <a:ext cx="120700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Proposal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4197096"/>
            <a:ext cx="120700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Generate structured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30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376672" y="3867911"/>
            <a:ext cx="411480" cy="4114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76672" y="3959352"/>
            <a:ext cx="411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16168" y="3858768"/>
            <a:ext cx="120700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Workshops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16168" y="4197096"/>
            <a:ext cx="120700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Coordinate execution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16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662672" y="3867911"/>
            <a:ext cx="411480" cy="4114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62672" y="3959352"/>
            <a:ext cx="411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3858768"/>
            <a:ext cx="120700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4197096"/>
            <a:ext cx="120700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Record real progress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02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948672" y="3867911"/>
            <a:ext cx="411480" cy="4114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48672" y="3959352"/>
            <a:ext cx="411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8" y="3858768"/>
            <a:ext cx="120700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AI Monitoring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88168" y="4197096"/>
            <a:ext cx="120700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Explain project health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The New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A clearer visual system designed for daily manager workflows.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166360" cy="4315968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480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What was improved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480560" cy="310896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Modern cards, spacing, colors, icons, and consistent actions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Redesigned Dashboard, AI Intake, Tracking, Monitoring, and management pages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Arabic RTL, English, and German multilingual experience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Responsive layouts with mobile-style bottom navigation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Clearer forms, progress charts, warnings, and status indicators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Safer controls for deleting messages and intake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00200"/>
            <a:ext cx="5394960" cy="4315968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828800"/>
            <a:ext cx="4480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D7B46A"/>
                </a:solidFill>
                <a:latin typeface="Aptos"/>
              </a:rPr>
              <a:t>Benefits for the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31720"/>
            <a:ext cx="384048" cy="384048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38404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322576"/>
            <a:ext cx="41605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8FAFF"/>
                </a:solidFill>
                <a:latin typeface="Aptos"/>
              </a:rPr>
              <a:t>Faster orientation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587752"/>
            <a:ext cx="4160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Managers understand the current state without searching through complex screens.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36391"/>
            <a:ext cx="384048" cy="384048"/>
          </a:xfrm>
          <a:prstGeom prst="roundRect">
            <a:avLst/>
          </a:prstGeom>
          <a:solidFill>
            <a:srgbClr val="7457FF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227832"/>
            <a:ext cx="38404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127248"/>
            <a:ext cx="41605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8FAFF"/>
                </a:solidFill>
                <a:latin typeface="Aptos"/>
              </a:rPr>
              <a:t>Fewer mistakes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392424"/>
            <a:ext cx="4160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Clearer actions and confirmations reduce accidental changes.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41063"/>
            <a:ext cx="384048" cy="384048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032503"/>
            <a:ext cx="38404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931920"/>
            <a:ext cx="41605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8FAFF"/>
                </a:solidFill>
                <a:latin typeface="Aptos"/>
              </a:rPr>
              <a:t>Better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4197096"/>
            <a:ext cx="4160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Progress, warnings, and next actions are easier to identify.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745736"/>
            <a:ext cx="384048" cy="384048"/>
          </a:xfrm>
          <a:prstGeom prst="roundRect">
            <a:avLst/>
          </a:prstGeom>
          <a:solidFill>
            <a:srgbClr val="7457FF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837175"/>
            <a:ext cx="38404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4736592"/>
            <a:ext cx="41605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8FAFF"/>
                </a:solidFill>
                <a:latin typeface="Aptos"/>
              </a:rPr>
              <a:t>Accessible anywhere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5001768"/>
            <a:ext cx="4160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Desktop and mobile experiences support work from office or site.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Frontend Improvements 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The experience is functional and polished; performance optimization is the current improvement focus.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303520" cy="443484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828800"/>
            <a:ext cx="1143000" cy="384048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10515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19B56B"/>
                </a:solidFill>
                <a:latin typeface="Aptos"/>
              </a:rP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572000" cy="3845668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dirty="0"/>
              <a:t>Responsive desktop and mobile layouts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dirty="0"/>
              <a:t>Fixed navigation and organized settings menu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dirty="0"/>
              <a:t>Collapsible AI Intake history and limited message rendering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dirty="0"/>
              <a:t>Readable fields across themes and improved Arabic RTL layout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dirty="0"/>
              <a:t>Consistent loading feedback for AI operations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dirty="0"/>
              <a:t>Professional progress charts and project-health visuals</a:t>
            </a:r>
            <a:endParaRPr lang="en-US" dirty="0"/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lang="en-US" dirty="0"/>
              <a:t>Pagination and lazy loading for growing project lists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lang="en-US" dirty="0"/>
              <a:t>Reduced unnecessary component rendering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lang="en-US" dirty="0"/>
              <a:t>Improved memory usage for long histories and large data sets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443484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1828800" cy="384048"/>
          </a:xfrm>
          <a:prstGeom prst="roundRect">
            <a:avLst/>
          </a:prstGeom>
          <a:solidFill>
            <a:srgbClr val="4A32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1737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 dirty="0">
                <a:solidFill>
                  <a:srgbClr val="F59E0B"/>
                </a:solidFill>
                <a:latin typeface="Aptos"/>
              </a:rPr>
              <a:t>UNDER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23160"/>
            <a:ext cx="4572000" cy="819199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dirty="0"/>
              <a:t>Continued FPS and mobile responsiveness testing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rPr dirty="0"/>
              <a:t>Faster perceived performance through clearer progress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44768"/>
            <a:ext cx="105156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>
                <a:solidFill>
                  <a:srgbClr val="D7B46A"/>
                </a:solidFill>
                <a:latin typeface="Aptos"/>
              </a:rPr>
              <a:t>Goal: keep the new professional UI fast as real customer data grows.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AI Intake Chat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9956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A construction-focused conversational assistant, not a rigid 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6583680" cy="448056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Why the agent is effective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5806440" cy="320040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Understands informal multilingual project descriptions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Captures customers, locations, dates, work areas, payments, and workshop needs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Uses construction-domain knowledge to ask relevant follow-up questions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Asks only practical missing questions instead of overwhelming the manager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Uses project-specific context while keeping intake sessions isolated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Supports editable history, individual message deletion, and session cleanup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00200"/>
            <a:ext cx="3977639" cy="448056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965960"/>
            <a:ext cx="3383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D7B46A"/>
                </a:solidFill>
                <a:latin typeface="Aptos"/>
              </a:rPr>
              <a:t>AI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651760"/>
            <a:ext cx="320040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8FAFF"/>
                </a:solidFill>
                <a:latin typeface="Aptos"/>
              </a:rPr>
              <a:t>Turns natural manager input into structured, reviewable project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3886200"/>
            <a:ext cx="3200400" cy="64008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4224528"/>
            <a:ext cx="320040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dirty="0">
                <a:solidFill>
                  <a:srgbClr val="D9E2F5"/>
                </a:solidFill>
                <a:latin typeface="Aptos"/>
              </a:rPr>
              <a:t>Less manual entry</a:t>
            </a:r>
            <a:br>
              <a:rPr dirty="0"/>
            </a:br>
            <a:r>
              <a:rPr dirty="0"/>
              <a:t>Fewer missing details</a:t>
            </a:r>
            <a:br>
              <a:rPr dirty="0"/>
            </a:br>
            <a:r>
              <a:rPr dirty="0"/>
              <a:t>Faster project 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56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Proposal Generation and Voice 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Two implemented AI-enabled capabilities that accelerate project setup.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85232" cy="438912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325880" cy="384048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123443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206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8FAFF"/>
                </a:solidFill>
                <a:latin typeface="Aptos"/>
              </a:rPr>
              <a:t>Proposal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389120" cy="228600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Converts conversation into structured proposal fields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Creates sites, work scope, payments, and workshop requirements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Keeps all generated information editable before confirmation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Exports a professional PDF with Arabic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321808" cy="438912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46520" y="1828800"/>
            <a:ext cx="1325880" cy="384048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01952"/>
            <a:ext cx="123443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95728"/>
            <a:ext cx="4206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8FAFF"/>
                </a:solidFill>
                <a:latin typeface="Aptos"/>
              </a:rPr>
              <a:t>Voice-to-Text Intake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4389120" cy="228600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Records spoken project notes directly in AI Intake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Uses AssemblyAI to convert recordings into text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Supports faster on-site project registration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Feeds voice content into the same conversational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Project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A structured manual tracking center for real project execution.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438912"/>
            <a:ext cx="1463040" cy="384048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29800" y="512063"/>
            <a:ext cx="1371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474720" cy="169164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28800"/>
            <a:ext cx="30175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Timeline &amp; Photos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301752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Document progress updates and visual evidence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600200"/>
            <a:ext cx="3474720" cy="169164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828800"/>
            <a:ext cx="30175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Tasks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13432"/>
            <a:ext cx="301752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Track site tasks, task weights, and completion percentages.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600200"/>
            <a:ext cx="3474720" cy="169164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828800"/>
            <a:ext cx="30175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Issues &amp; Blockers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313432"/>
            <a:ext cx="301752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Record severity, ownership, status, and resolution.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57600"/>
            <a:ext cx="3474720" cy="169164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886200"/>
            <a:ext cx="30175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Materials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370832"/>
            <a:ext cx="301752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Monitor needed, ordered, delivered, and used materials.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3657600"/>
            <a:ext cx="3474720" cy="169164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81728" y="3886200"/>
            <a:ext cx="30175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Workshop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370832"/>
            <a:ext cx="301752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Coordinate workshop execution and prevent same-site conflicts.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3657600"/>
            <a:ext cx="3474720" cy="169164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3886200"/>
            <a:ext cx="30175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Smart Warnings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4370832"/>
            <a:ext cx="301752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Highlight overdue work, missing schedules, blockers, and availability risks.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D7B46A"/>
                </a:solidFill>
                <a:latin typeface="Aptos"/>
              </a:rPr>
              <a:t>Benefit: managers can see what is completed, delayed, blocked, or waiting for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AI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AI explains project health using structured tracking data and deterministic backend values.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438912"/>
            <a:ext cx="3154680" cy="384048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2440" y="512063"/>
            <a:ext cx="3063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50" b="1">
                <a:solidFill>
                  <a:srgbClr val="19B56B"/>
                </a:solidFill>
                <a:latin typeface="Aptos"/>
              </a:rPr>
              <a:t>IMPLEMENTED - CONTINUOUS IMPROVEMENT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6400800" cy="448056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5029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What it currently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5577840" cy="292608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Compares planned progress against actual progress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Highlights delays, risks, blockers, and incomplete tasks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Explains backend-calculated health indicators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Identifies missing information that limits reliable analysis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Recommends practical next actions for the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00200"/>
            <a:ext cx="4206240" cy="448056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1874519"/>
            <a:ext cx="361188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D7B46A"/>
                </a:solidFill>
                <a:latin typeface="Aptos"/>
              </a:rPr>
              <a:t>Continuous improvement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593387"/>
            <a:ext cx="3383280" cy="167122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0" dirty="0">
                <a:solidFill>
                  <a:srgbClr val="F8FAFF"/>
                </a:solidFill>
                <a:latin typeface="Aptos"/>
              </a:rPr>
              <a:t>The complete monitoring workflow is implemented. Current work continuously improves explanation quality, progress intelligence, reliability, and user experience with real project data.</a:t>
            </a:r>
            <a:r>
              <a:rPr lang="en-US" sz="1500" b="0" dirty="0">
                <a:solidFill>
                  <a:srgbClr val="F8FAFF"/>
                </a:solidFill>
                <a:latin typeface="Aptos"/>
              </a:rPr>
              <a:t>(even if its now away better version from first version but still improving it)</a:t>
            </a:r>
            <a:endParaRPr sz="1500" b="0" dirty="0">
              <a:solidFill>
                <a:srgbClr val="F8FA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01000" y="4800600"/>
            <a:ext cx="2743200" cy="384048"/>
          </a:xfrm>
          <a:prstGeom prst="roundRect">
            <a:avLst/>
          </a:prstGeom>
          <a:solidFill>
            <a:srgbClr val="4A32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4873752"/>
            <a:ext cx="26517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EARLIER RISK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Implemented Feature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Current feature status based on the latest project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4A7CFF"/>
                </a:solidFill>
                <a:latin typeface="Aptos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1389888"/>
            <a:ext cx="4572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4A7CFF"/>
                </a:solidFill>
                <a:latin typeface="Aptos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1389888"/>
            <a:ext cx="263347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4A7CFF"/>
                </a:solidFill>
                <a:latin typeface="Aptos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10863072" cy="3200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19656"/>
            <a:ext cx="10863072" cy="640080"/>
          </a:xfrm>
          <a:prstGeom prst="rect">
            <a:avLst/>
          </a:prstGeom>
          <a:solidFill>
            <a:srgbClr val="151F3D"/>
          </a:solidFill>
          <a:ln w="12700">
            <a:solidFill>
              <a:srgbClr val="15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1920240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002536"/>
            <a:ext cx="347472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920240"/>
            <a:ext cx="27432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Project / Order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920240"/>
            <a:ext cx="4251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Manage customers, orders, sites, and project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883664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53728" y="1965960"/>
            <a:ext cx="183794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2633472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2715768"/>
            <a:ext cx="347472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633472"/>
            <a:ext cx="27432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AI Intake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633472"/>
            <a:ext cx="4251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Conversational assistant for collecting project requirements.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596896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3728" y="2679191"/>
            <a:ext cx="183794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246120"/>
            <a:ext cx="10863072" cy="640080"/>
          </a:xfrm>
          <a:prstGeom prst="rect">
            <a:avLst/>
          </a:prstGeom>
          <a:solidFill>
            <a:srgbClr val="151F3D"/>
          </a:solidFill>
          <a:ln w="12700">
            <a:solidFill>
              <a:srgbClr val="15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4672" y="3346704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429000"/>
            <a:ext cx="347472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346704"/>
            <a:ext cx="27432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Proposal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346704"/>
            <a:ext cx="4251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Converts intake conversation into structured proposal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3310128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53728" y="3392424"/>
            <a:ext cx="183794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" y="4059935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142231"/>
            <a:ext cx="347472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059935"/>
            <a:ext cx="27432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Voice-to-Text Intake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059935"/>
            <a:ext cx="4251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Converts spoken notes into text to speed up intake.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4023359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53728" y="4105655"/>
            <a:ext cx="183794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72584"/>
            <a:ext cx="10863072" cy="640080"/>
          </a:xfrm>
          <a:prstGeom prst="rect">
            <a:avLst/>
          </a:prstGeom>
          <a:solidFill>
            <a:srgbClr val="151F3D"/>
          </a:solidFill>
          <a:ln w="12700">
            <a:solidFill>
              <a:srgbClr val="15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4672" y="4773168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4855464"/>
            <a:ext cx="347472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4773168"/>
            <a:ext cx="27432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Project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4773168"/>
            <a:ext cx="4251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Tracks tasks, issues, photos, materials, progress, schedules, and warnings.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4736592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53728" y="4818888"/>
            <a:ext cx="183794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" y="5486400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5568696"/>
            <a:ext cx="347472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98448" y="5486400"/>
            <a:ext cx="27432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AI Monitoring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5486400"/>
            <a:ext cx="4251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Reviews tracking data to detect delays, risks, blockers, and incomplete tasks.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89720" y="5449824"/>
            <a:ext cx="1965960" cy="530352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53728" y="5591621"/>
            <a:ext cx="1837943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 dirty="0">
                <a:solidFill>
                  <a:srgbClr val="19B56B"/>
                </a:solidFill>
                <a:latin typeface="Aptos"/>
              </a:rPr>
              <a:t>Implemented</a:t>
            </a:r>
            <a:br>
              <a:rPr sz="800" dirty="0"/>
            </a:br>
            <a:r>
              <a:rPr sz="800" dirty="0">
                <a:solidFill>
                  <a:srgbClr val="19B56B"/>
                </a:solidFill>
              </a:rPr>
              <a:t>(Continuous Improvement)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Quality and Technical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The latest integrated build has been validated across backend and frontend.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3756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56232"/>
            <a:ext cx="300837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19B56B"/>
                </a:solidFill>
                <a:latin typeface="Aptos"/>
              </a:rPr>
              <a:t>76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0008"/>
            <a:ext cx="300837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BACKEND 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691640"/>
            <a:ext cx="333756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856232"/>
            <a:ext cx="300837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4A7CFF"/>
                </a:solidFill>
                <a:latin typeface="Apto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50008"/>
            <a:ext cx="300837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FRONTEND PRODUCTION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1691640"/>
            <a:ext cx="333756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9" y="1856232"/>
            <a:ext cx="300837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7457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350008"/>
            <a:ext cx="300837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SUPPORTED UI LANGUAGES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154680"/>
            <a:ext cx="10561320" cy="24688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47548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1">
                <a:solidFill>
                  <a:srgbClr val="F8FAFF"/>
                </a:solidFill>
                <a:latin typeface="Aptos"/>
              </a:rPr>
              <a:t>Validated connected capabilities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4480560" cy="128016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AI Intake and proposal generation</a:t>
            </a:r>
          </a:p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Voice transcription and multilingual workflows</a:t>
            </a:r>
          </a:p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Workshop management and 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977639"/>
            <a:ext cx="4480560" cy="128016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Project Tracking and photo documentation</a:t>
            </a:r>
          </a:p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AI Monitoring endpoints and fallback behavior</a:t>
            </a:r>
          </a:p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Responsive frontend production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3327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>
                <a:solidFill>
                  <a:srgbClr val="D7B46A"/>
                </a:solidFill>
                <a:latin typeface="Aptos"/>
              </a:rPr>
              <a:t>Managers remain in control: AI output is reviewable before it becomes official project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Next Development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Moving from an integrated prototype toward a stable pilot release.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72768"/>
            <a:ext cx="10469880" cy="89611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773936"/>
            <a:ext cx="475488" cy="475488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92807"/>
            <a:ext cx="47548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73736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Frontend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55648"/>
            <a:ext cx="63550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Continue pagination, lazy loading, memory, FPS, and mobile optimization.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88336"/>
            <a:ext cx="10469880" cy="896112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2889504"/>
            <a:ext cx="475488" cy="4754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008376"/>
            <a:ext cx="47548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85292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AI Monitoring Refinement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71216"/>
            <a:ext cx="63550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Continuously improve explanation clarity, progress intelligence, and real-data reliability.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803904"/>
            <a:ext cx="10469880" cy="89611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0120" y="4005072"/>
            <a:ext cx="475488" cy="475488"/>
          </a:xfrm>
          <a:prstGeom prst="roundRect">
            <a:avLst/>
          </a:prstGeom>
          <a:solidFill>
            <a:srgbClr val="7457FF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123944"/>
            <a:ext cx="47548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968496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Usability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86784"/>
            <a:ext cx="63550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Validate desktop, mobile, Arabic, English, and German user journeys.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919472"/>
            <a:ext cx="10469880" cy="896112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0120" y="5120640"/>
            <a:ext cx="475488" cy="475488"/>
          </a:xfrm>
          <a:prstGeom prst="roundRect">
            <a:avLst/>
          </a:prstGeom>
          <a:solidFill>
            <a:srgbClr val="19B56B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239512"/>
            <a:ext cx="47548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5084064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Pilot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102352"/>
            <a:ext cx="63550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Prepare controlled customer demonstrations and stable release checks.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126480"/>
            <a:ext cx="104698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50" b="1">
                <a:solidFill>
                  <a:srgbClr val="D7B46A"/>
                </a:solidFill>
                <a:latin typeface="Aptos"/>
              </a:rPr>
              <a:t>OMRAN already connects AI-assisted intake with real project execution management.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1149</Words>
  <Application>Microsoft Office PowerPoint</Application>
  <PresentationFormat>Widescreen</PresentationFormat>
  <Paragraphs>218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Sultan</cp:lastModifiedBy>
  <cp:revision>2</cp:revision>
  <dcterms:created xsi:type="dcterms:W3CDTF">2013-01-27T09:14:16Z</dcterms:created>
  <dcterms:modified xsi:type="dcterms:W3CDTF">2026-06-04T23:05:53Z</dcterms:modified>
  <cp:category/>
</cp:coreProperties>
</file>