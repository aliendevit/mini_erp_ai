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4"/>
          </a:solidFill>
          <a:ln w="12700">
            <a:solidFill>
              <a:srgbClr val="0B1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55279" y="-548640"/>
            <a:ext cx="4846320" cy="7955279"/>
          </a:xfrm>
          <a:prstGeom prst="roundRect">
            <a:avLst/>
          </a:prstGeom>
          <a:solidFill>
            <a:srgbClr val="7457FF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69680" y="137160"/>
            <a:ext cx="2468880" cy="24688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27432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>
                <a:solidFill>
                  <a:srgbClr val="D7B46A"/>
                </a:solidFill>
                <a:latin typeface="Aptos"/>
              </a:rPr>
              <a:t>OMRAN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7315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A7CFF"/>
                </a:solidFill>
                <a:latin typeface="Aptos"/>
              </a:rPr>
              <a:t>CURRENT PROJECT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7498079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8FAFF"/>
                </a:solidFill>
                <a:latin typeface="Aptos"/>
              </a:rPr>
              <a:t>A More Intelligent, Clear,</a:t>
            </a:r>
            <a:br/>
            <a:r>
              <a:t>and User-Friendly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67328"/>
            <a:ext cx="69037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D9E2F5"/>
                </a:solidFill>
                <a:latin typeface="Aptos"/>
              </a:rPr>
              <a:t>New UI, implemented features, AI value, and frontend performance improvements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4800600"/>
            <a:ext cx="1325880" cy="384048"/>
          </a:xfrm>
          <a:prstGeom prst="roundRect">
            <a:avLst/>
          </a:prstGeom>
          <a:solidFill>
            <a:srgbClr val="302B20"/>
          </a:solidFill>
          <a:ln w="12700">
            <a:solidFill>
              <a:srgbClr val="D7B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873752"/>
            <a:ext cx="123443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D7B46A"/>
                </a:solidFill>
                <a:latin typeface="Aptos"/>
              </a:rPr>
              <a:t>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86400"/>
            <a:ext cx="6858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1A0BF"/>
                </a:solidFill>
                <a:latin typeface="Aptos"/>
              </a:rPr>
              <a:t>From conversational project intake to controlled project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The prototype now connects the main construction-management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214884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10512"/>
            <a:ext cx="181965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9B56B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04288"/>
            <a:ext cx="181965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FEATURES IMPLEMENTED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45920"/>
            <a:ext cx="214884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1810512"/>
            <a:ext cx="181965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304288"/>
            <a:ext cx="181965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FEATURE UNDER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85232" y="1645920"/>
            <a:ext cx="214884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4" y="1810512"/>
            <a:ext cx="181965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4A7CFF"/>
                </a:solidFill>
                <a:latin typeface="Aptos"/>
              </a:rPr>
              <a:t>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304288"/>
            <a:ext cx="181965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BACKEND TESTS PASSING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98664" y="1645920"/>
            <a:ext cx="214884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6" y="1810512"/>
            <a:ext cx="181965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7457FF"/>
                </a:solidFill>
                <a:latin typeface="Aptos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2304288"/>
            <a:ext cx="181965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FRONTEND BUILD PASSING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12096" y="1645920"/>
            <a:ext cx="1618488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6688" y="1828800"/>
            <a:ext cx="1234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D7B46A"/>
                </a:solidFill>
                <a:latin typeface="Aptos"/>
              </a:rPr>
              <a:t>UI 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2267712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91A0BF"/>
                </a:solidFill>
                <a:latin typeface="Aptos"/>
              </a:rPr>
              <a:t>Performance evolving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54680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8FAFF"/>
                </a:solidFill>
                <a:latin typeface="Aptos"/>
              </a:rPr>
              <a:t>Connected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67911"/>
            <a:ext cx="411480" cy="4114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593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3858768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AI Intake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197096"/>
            <a:ext cx="120700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Capture text or 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44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90672" y="3867911"/>
            <a:ext cx="411480" cy="4114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39593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3858768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4197096"/>
            <a:ext cx="120700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Generate structured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30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76672" y="3867911"/>
            <a:ext cx="411480" cy="4114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6672" y="39593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16168" y="3858768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Workshops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16168" y="4197096"/>
            <a:ext cx="120700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Coordinate execution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16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62672" y="3867911"/>
            <a:ext cx="411480" cy="411480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62672" y="39593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3858768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4197096"/>
            <a:ext cx="120700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Record real progress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02368" y="3703320"/>
            <a:ext cx="2029968" cy="10972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948672" y="3867911"/>
            <a:ext cx="411480" cy="411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48672" y="39593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8FA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8" y="3858768"/>
            <a:ext cx="12070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AI 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8168" y="4197096"/>
            <a:ext cx="120700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Explain project health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The New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A clearer visual system designed for daily manager workflows.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166360" cy="4315968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480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What was improved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480560" cy="310896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Modern cards, spacing, colors, icons, and consistent actions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Redesigned Dashboard, AI Intake, Tracking, Monitoring, and management pages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Arabic RTL, English, and German multilingual experience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Responsive layouts with mobile-style bottom navigation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Clearer forms, progress charts, warnings, and status indicators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Safer controls for deleting messages and intake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5394960" cy="4315968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828800"/>
            <a:ext cx="4480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D7B46A"/>
                </a:solidFill>
                <a:latin typeface="Aptos"/>
              </a:rPr>
              <a:t>Benefits for the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31720"/>
            <a:ext cx="384048" cy="384048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322576"/>
            <a:ext cx="4160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8FAFF"/>
                </a:solidFill>
                <a:latin typeface="Aptos"/>
              </a:rPr>
              <a:t>Faster 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587752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Managers understand the current state without searching through complex screens.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36391"/>
            <a:ext cx="384048" cy="384048"/>
          </a:xfrm>
          <a:prstGeom prst="roundRect">
            <a:avLst/>
          </a:prstGeom>
          <a:solidFill>
            <a:srgbClr val="7457FF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27832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127248"/>
            <a:ext cx="4160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8FAFF"/>
                </a:solidFill>
                <a:latin typeface="Aptos"/>
              </a:rPr>
              <a:t>Fewer mistakes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392424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Clearer actions and confirmations reduce accidental changes.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41063"/>
            <a:ext cx="384048" cy="384048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32503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931920"/>
            <a:ext cx="4160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8FAFF"/>
                </a:solidFill>
                <a:latin typeface="Aptos"/>
              </a:rPr>
              <a:t>Better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4197096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Progress, warnings, and next actions are easier to identify.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745736"/>
            <a:ext cx="384048" cy="384048"/>
          </a:xfrm>
          <a:prstGeom prst="roundRect">
            <a:avLst/>
          </a:prstGeom>
          <a:solidFill>
            <a:srgbClr val="7457FF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837175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736592"/>
            <a:ext cx="4160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8FAFF"/>
                </a:solidFill>
                <a:latin typeface="Aptos"/>
              </a:rPr>
              <a:t>Accessible anywhere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5001768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1A0BF"/>
                </a:solidFill>
                <a:latin typeface="Aptos"/>
              </a:rPr>
              <a:t>Desktop and mobile experiences support work from office or site.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Frontend Improvements 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The experience is functional and polished; performance optimization is the current improvement focus.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303520" cy="443484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28800"/>
            <a:ext cx="114300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10515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9B56B"/>
                </a:solidFill>
                <a:latin typeface="Aptos"/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572000" cy="306324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Responsive desktop and mobile layouts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Fixed navigation and organized settings menu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Collapsible AI Intake history and limited message rendering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Readable fields across themes and improved Arabic RTL layout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Consistent loading feedback for AI operations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Professional progress charts and project-health visuals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443484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1828800" cy="384048"/>
          </a:xfrm>
          <a:prstGeom prst="roundRect">
            <a:avLst/>
          </a:prstGeom>
          <a:solidFill>
            <a:srgbClr val="4A32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1737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UNDER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23160"/>
            <a:ext cx="4572000" cy="306324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Pagination and lazy loading for growing project lists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Reduced unnecessary component rendering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Improved memory usage for long histories and large data sets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Continued FPS and mobile responsiveness testing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Faster perceived performance through clearer progress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44768"/>
            <a:ext cx="10515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50" b="1">
                <a:solidFill>
                  <a:srgbClr val="D7B46A"/>
                </a:solidFill>
                <a:latin typeface="Aptos"/>
              </a:rPr>
              <a:t>Goal: keep the new professional UI fast as real customer data grows.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AI Intake Chat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A construction-focused conversational assistant, not a rigid 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6583680" cy="448056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Why the agent is effective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5806440" cy="32004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Understands informal multilingual project descriptions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Captures customers, locations, dates, work areas, payments, and workshop needs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Uses construction-domain knowledge to ask relevant follow-up questions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Asks only practical missing questions instead of overwhelming the manager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Uses project-specific context while keeping intake sessions isolated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Supports editable history, individual message deletion, and session cleanup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00200"/>
            <a:ext cx="3977639" cy="448056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965960"/>
            <a:ext cx="3383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D7B46A"/>
                </a:solidFill>
                <a:latin typeface="Aptos"/>
              </a:rPr>
              <a:t>AI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51760"/>
            <a:ext cx="320040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8FAFF"/>
                </a:solidFill>
                <a:latin typeface="Aptos"/>
              </a:rPr>
              <a:t>Turns natural manager input into structured, reviewable project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3886200"/>
            <a:ext cx="3200400" cy="64008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224528"/>
            <a:ext cx="320040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D9E2F5"/>
                </a:solidFill>
                <a:latin typeface="Aptos"/>
              </a:rPr>
              <a:t>Less manual entry</a:t>
            </a:r>
            <a:br/>
            <a:r>
              <a:t>Fewer missing details</a:t>
            </a:r>
            <a:br/>
            <a:r>
              <a:t>Faster project 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Proposal Generation and Voice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Two implemented AI-enabled capabilities that accelerate project setup.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85232" cy="438912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32588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123443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206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>
                <a:solidFill>
                  <a:srgbClr val="F8FAFF"/>
                </a:solidFill>
                <a:latin typeface="Aptos"/>
              </a:rPr>
              <a:t>Proposal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389120" cy="22860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Converts conversation into structured proposal fields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Creates sites, work scope, payments, and workshop requirements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Keeps all generated information editable before confirmation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Exports a professional PDF with Arabic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321808" cy="438912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132588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01952"/>
            <a:ext cx="123443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95728"/>
            <a:ext cx="4206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>
                <a:solidFill>
                  <a:srgbClr val="F8FAFF"/>
                </a:solidFill>
                <a:latin typeface="Aptos"/>
              </a:rPr>
              <a:t>Voice-to-Text 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4389120" cy="22860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Records spoken project notes directly in AI Intake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Uses AssemblyAI to convert recordings into text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Supports faster on-site project registration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Feeds voice content into the same conversational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Project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A structured manual tracking center for real project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438912"/>
            <a:ext cx="1463040" cy="384048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512063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474720" cy="169164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28800"/>
            <a:ext cx="3017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Timeline &amp; 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Document progress updates and visual evidence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600200"/>
            <a:ext cx="3474720" cy="169164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828800"/>
            <a:ext cx="3017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Tasks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1343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Track site tasks, task weights, and completion percentages.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600200"/>
            <a:ext cx="3474720" cy="169164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28800"/>
            <a:ext cx="3017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Issues &amp; Blockers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Record severity, ownership, status, and resolution.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57600"/>
            <a:ext cx="3474720" cy="169164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886200"/>
            <a:ext cx="3017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Materials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37083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Monitor needed, ordered, delivered, and used materials.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3657600"/>
            <a:ext cx="3474720" cy="169164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886200"/>
            <a:ext cx="3017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Workshop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37083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Coordinate workshop execution and prevent same-site conflicts.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3657600"/>
            <a:ext cx="3474720" cy="169164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3886200"/>
            <a:ext cx="3017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Smart Warnings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4370832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Highlight overdue work, missing schedules, blockers, and availability risks.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D7B46A"/>
                </a:solidFill>
                <a:latin typeface="Aptos"/>
              </a:rPr>
              <a:t>Benefit: managers can see what is completed, delayed, blocked, or waiting for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AI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AI explains project health using structured tracking data and deterministic backend values.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438912"/>
            <a:ext cx="3154680" cy="384048"/>
          </a:xfrm>
          <a:prstGeom prst="roundRect">
            <a:avLst/>
          </a:prstGeom>
          <a:solidFill>
            <a:srgbClr val="4A32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512063"/>
            <a:ext cx="3063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F59E0B"/>
                </a:solidFill>
                <a:latin typeface="Aptos"/>
              </a:rPr>
              <a:t>PARTIALLY IMPLEMENTED - UNDER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6400800" cy="448056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What it currently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5577840" cy="292608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Compares planned progress against actual progress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Highlights delays, risks, blockers, and incomplete tasks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Explains backend-calculated health indicators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Identifies missing information that limits reliable analysis</a:t>
            </a:r>
          </a:p>
          <a:p>
            <a:pPr>
              <a:spcAft>
                <a:spcPts val="700"/>
              </a:spcAft>
              <a:defRPr sz="1500">
                <a:solidFill>
                  <a:srgbClr val="D9E2F5"/>
                </a:solidFill>
                <a:latin typeface="Aptos"/>
              </a:defRPr>
            </a:pPr>
            <a:r>
              <a:t>Recommends practical next actions for the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00200"/>
            <a:ext cx="4206240" cy="4480560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874519"/>
            <a:ext cx="3611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D7B46A"/>
                </a:solidFill>
                <a:latin typeface="Aptos"/>
              </a:rPr>
              <a:t>Why it remains under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697480"/>
            <a:ext cx="3383280" cy="1463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F8FAFF"/>
                </a:solidFill>
                <a:latin typeface="Aptos"/>
              </a:rPr>
              <a:t>The monitoring foundation works. Current work focuses on improving explanation quality, progress intelligence, and reliability for real project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800600"/>
            <a:ext cx="2743200" cy="384048"/>
          </a:xfrm>
          <a:prstGeom prst="roundRect">
            <a:avLst/>
          </a:prstGeom>
          <a:solidFill>
            <a:srgbClr val="4A32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73752"/>
            <a:ext cx="2651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EARLIER RISK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Implemented Feature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Current feature status based on the latest project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4A7CFF"/>
                </a:solidFill>
                <a:latin typeface="Aptos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1389888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4A7CFF"/>
                </a:solidFill>
                <a:latin typeface="Aptos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389888"/>
            <a:ext cx="26334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4A7CFF"/>
                </a:solidFill>
                <a:latin typeface="Aptos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10863072" cy="3200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19656"/>
            <a:ext cx="10863072" cy="640080"/>
          </a:xfrm>
          <a:prstGeom prst="rect">
            <a:avLst/>
          </a:prstGeom>
          <a:solidFill>
            <a:srgbClr val="151F3D"/>
          </a:solidFill>
          <a:ln w="12700">
            <a:solidFill>
              <a:srgbClr val="15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1920240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002536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920240"/>
            <a:ext cx="27432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Project / Order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920240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Manage customers, orders, sites, and project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883664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1965960"/>
            <a:ext cx="18379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2633472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715768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633472"/>
            <a:ext cx="27432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AI Intake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633472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Conversational assistant for collecting project requirements.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596896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679191"/>
            <a:ext cx="18379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246120"/>
            <a:ext cx="10863072" cy="640080"/>
          </a:xfrm>
          <a:prstGeom prst="rect">
            <a:avLst/>
          </a:prstGeom>
          <a:solidFill>
            <a:srgbClr val="151F3D"/>
          </a:solidFill>
          <a:ln w="12700">
            <a:solidFill>
              <a:srgbClr val="15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3346704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429000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346704"/>
            <a:ext cx="27432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Proposal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346704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Converts intake conversation into structured proposal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3310128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3392424"/>
            <a:ext cx="18379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" y="4059935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142231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059935"/>
            <a:ext cx="27432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Voice-to-Text Intake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059935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Converts spoken notes into text to speed up intake.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4023359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4105655"/>
            <a:ext cx="18379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72584"/>
            <a:ext cx="10863072" cy="640080"/>
          </a:xfrm>
          <a:prstGeom prst="rect">
            <a:avLst/>
          </a:prstGeom>
          <a:solidFill>
            <a:srgbClr val="151F3D"/>
          </a:solidFill>
          <a:ln w="12700">
            <a:solidFill>
              <a:srgbClr val="15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4773168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855464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4773168"/>
            <a:ext cx="27432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Project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4773168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Tracks tasks, issues, photos, materials, progress, schedules, and warnings.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4736592"/>
            <a:ext cx="1965960" cy="420624"/>
          </a:xfrm>
          <a:prstGeom prst="roundRect">
            <a:avLst/>
          </a:prstGeom>
          <a:solidFill>
            <a:srgbClr val="103D2A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53728" y="4818888"/>
            <a:ext cx="18379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69" b="1">
                <a:solidFill>
                  <a:srgbClr val="19B56B"/>
                </a:solidFill>
                <a:latin typeface="Aptos"/>
              </a:rPr>
              <a:t>Implemented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" y="5486400"/>
            <a:ext cx="347472" cy="347472"/>
          </a:xfrm>
          <a:prstGeom prst="roundRect">
            <a:avLst/>
          </a:prstGeom>
          <a:solidFill>
            <a:srgbClr val="182B55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568696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4A7C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98448" y="5486400"/>
            <a:ext cx="27432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8FAFF"/>
                </a:solidFill>
                <a:latin typeface="Aptos"/>
              </a:rPr>
              <a:t>AI 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5486400"/>
            <a:ext cx="4251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>
                <a:solidFill>
                  <a:srgbClr val="D9E2F5"/>
                </a:solidFill>
                <a:latin typeface="Aptos"/>
              </a:rPr>
              <a:t>Reviews tracking data to detect delays, risks, blockers, and incomplete tasks.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89720" y="5449824"/>
            <a:ext cx="1965960" cy="530352"/>
          </a:xfrm>
          <a:prstGeom prst="roundRect">
            <a:avLst/>
          </a:prstGeom>
          <a:solidFill>
            <a:srgbClr val="4A32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53728" y="5532120"/>
            <a:ext cx="1837943" cy="42062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69" b="1">
                <a:solidFill>
                  <a:srgbClr val="F59E0B"/>
                </a:solidFill>
                <a:latin typeface="Aptos"/>
              </a:rPr>
              <a:t>Partially Implemented</a:t>
            </a:r>
            <a:br/>
            <a:r>
              <a:t>(Under Review)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Quality and Technical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The latest integrated build has been validated across backend and frontend.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3756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56232"/>
            <a:ext cx="300837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9B56B"/>
                </a:solidFill>
                <a:latin typeface="Aptos"/>
              </a:rPr>
              <a:t>76 /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0008"/>
            <a:ext cx="300837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BACKEND 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691640"/>
            <a:ext cx="333756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56232"/>
            <a:ext cx="300837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4A7CFF"/>
                </a:solidFill>
                <a:latin typeface="Apto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50008"/>
            <a:ext cx="300837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FRONTEND PRODUCTION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1691640"/>
            <a:ext cx="3337560" cy="107899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856232"/>
            <a:ext cx="300837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7457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350008"/>
            <a:ext cx="300837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91A0BF"/>
                </a:solidFill>
                <a:latin typeface="Aptos"/>
              </a:rPr>
              <a:t>SUPPORTED UI LANGUAGES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154680"/>
            <a:ext cx="10561320" cy="2468880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4754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F8FAFF"/>
                </a:solidFill>
                <a:latin typeface="Aptos"/>
              </a:rPr>
              <a:t>Validated connected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4480560" cy="128016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AI Intake and proposal generation</a:t>
            </a:r>
          </a:p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Voice transcription and multilingual workflows</a:t>
            </a:r>
          </a:p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Workshop management and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977639"/>
            <a:ext cx="4480560" cy="128016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Project Tracking and photo documentation</a:t>
            </a:r>
          </a:p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AI Monitoring endpoints and fallback behavior</a:t>
            </a:r>
          </a:p>
          <a:p>
            <a:pPr>
              <a:spcAft>
                <a:spcPts val="700"/>
              </a:spcAft>
              <a:defRPr sz="1400">
                <a:solidFill>
                  <a:srgbClr val="D9E2F5"/>
                </a:solidFill>
                <a:latin typeface="Aptos"/>
              </a:defRPr>
            </a:pPr>
            <a:r>
              <a:t>Responsive frontend production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332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50" b="1">
                <a:solidFill>
                  <a:srgbClr val="D7B46A"/>
                </a:solidFill>
                <a:latin typeface="Aptos"/>
              </a:rPr>
              <a:t>Managers remain in control: AI output is reviewable before it becomes official project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8FAFF"/>
                </a:solidFill>
                <a:latin typeface="Aptos"/>
              </a:rPr>
              <a:t>Next Development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91A0BF"/>
                </a:solidFill>
                <a:latin typeface="Aptos"/>
              </a:rPr>
              <a:t>Moving from an integrated prototype toward a stable pilot release.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914400" cy="54864"/>
          </a:xfrm>
          <a:prstGeom prst="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D7B46A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10469880" cy="89611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73936"/>
            <a:ext cx="475488" cy="475488"/>
          </a:xfrm>
          <a:prstGeom prst="roundRect">
            <a:avLst/>
          </a:prstGeom>
          <a:solidFill>
            <a:srgbClr val="4A7CFF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92807"/>
            <a:ext cx="47548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73736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Frontend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55648"/>
            <a:ext cx="6355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Continue pagination, lazy loading, memory, FPS, and mobile optimization.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88336"/>
            <a:ext cx="10469880" cy="896112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889504"/>
            <a:ext cx="475488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08376"/>
            <a:ext cx="47548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85292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AI Monitoring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71216"/>
            <a:ext cx="6355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Improve explanation clarity, progress intelligence, and real-data reliability.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803904"/>
            <a:ext cx="10469880" cy="896112"/>
          </a:xfrm>
          <a:prstGeom prst="roundRect">
            <a:avLst/>
          </a:prstGeom>
          <a:solidFill>
            <a:srgbClr val="151F3D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005072"/>
            <a:ext cx="475488" cy="475488"/>
          </a:xfrm>
          <a:prstGeom prst="roundRect">
            <a:avLst/>
          </a:prstGeom>
          <a:solidFill>
            <a:srgbClr val="7457FF"/>
          </a:solidFill>
          <a:ln w="12700">
            <a:solidFill>
              <a:srgbClr val="7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23944"/>
            <a:ext cx="47548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968496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Usability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86784"/>
            <a:ext cx="6355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Validate desktop, mobile, Arabic, English, and German user journeys.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919472"/>
            <a:ext cx="10469880" cy="896112"/>
          </a:xfrm>
          <a:prstGeom prst="roundRect">
            <a:avLst/>
          </a:prstGeom>
          <a:solidFill>
            <a:srgbClr val="1B274A"/>
          </a:solidFill>
          <a:ln w="12700">
            <a:solidFill>
              <a:srgbClr val="29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5120640"/>
            <a:ext cx="475488" cy="475488"/>
          </a:xfrm>
          <a:prstGeom prst="roundRect">
            <a:avLst/>
          </a:prstGeom>
          <a:solidFill>
            <a:srgbClr val="19B56B"/>
          </a:solidFill>
          <a:ln w="12700">
            <a:solidFill>
              <a:srgbClr val="19B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39512"/>
            <a:ext cx="47548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5084064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8FAFF"/>
                </a:solidFill>
                <a:latin typeface="Aptos"/>
              </a:rPr>
              <a:t>Pilot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102352"/>
            <a:ext cx="6355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91A0BF"/>
                </a:solidFill>
                <a:latin typeface="Aptos"/>
              </a:rPr>
              <a:t>Prepare controlled customer demonstrations and stable release checks.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126480"/>
            <a:ext cx="10469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D7B46A"/>
                </a:solidFill>
                <a:latin typeface="Aptos"/>
              </a:rPr>
              <a:t>OMRAN already connects AI-assisted intake with real project execution management.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91A0BF"/>
                </a:solidFill>
                <a:latin typeface="Aptos"/>
              </a:rPr>
              <a:t>OMRAN ERP  |  Current Progress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6565392"/>
            <a:ext cx="2788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50" b="0">
                <a:solidFill>
                  <a:srgbClr val="91A0BF"/>
                </a:solidFill>
                <a:latin typeface="Aptos"/>
              </a:rPr>
              <a:t>AI-powered construction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